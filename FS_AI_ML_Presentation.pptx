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1" r:id="rId7"/>
    <p:sldId id="260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B8C4E8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B8C4E8"/>
                </a:solidFill>
                <a:latin typeface="Arial"/>
              </a:rPr>
              <a:t>Error Metrics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MSE</c:v>
                </c:pt>
                <c:pt idx="1">
                  <c:v>RMSE</c:v>
                </c:pt>
                <c:pt idx="2">
                  <c:v>MAE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18.5</c:v>
                </c:pt>
                <c:pt idx="1">
                  <c:v>4.3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15-484D-A259-9B3633E0F6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MSE</c:v>
                </c:pt>
                <c:pt idx="1">
                  <c:v>RMSE</c:v>
                </c:pt>
                <c:pt idx="2">
                  <c:v>MAE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9.1999999999999993</c:v>
                </c:pt>
                <c:pt idx="1">
                  <c:v>3</c:v>
                </c:pt>
                <c:pt idx="2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15-484D-A259-9B3633E0F6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B8C4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15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B8C4E8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B8C4E8"/>
                </a:solidFill>
                <a:latin typeface="Arial"/>
              </a:rPr>
              <a:t>Model Accuracy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A58-46DA-8327-1195CBB76288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58-46DA-8327-1195CBB76288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58-46DA-8327-1195CBB762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KNN (k=5)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88</c:v>
                </c:pt>
                <c:pt idx="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A58-46DA-8327-1195CBB762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1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09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15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6"/>
          <p:cNvSpPr/>
          <p:nvPr/>
        </p:nvSpPr>
        <p:spPr>
          <a:xfrm>
            <a:off x="274320" y="2926080"/>
            <a:ext cx="2323106" cy="1391147"/>
          </a:xfrm>
          <a:prstGeom prst="rect">
            <a:avLst/>
          </a:prstGeom>
          <a:solidFill>
            <a:srgbClr val="1A215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01840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274320"/>
            <a:ext cx="1645920" cy="164592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1645920"/>
            <a:ext cx="2194560" cy="2194560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2926080"/>
            <a:ext cx="1280160" cy="1280160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1097280"/>
            <a:ext cx="1463040" cy="1463040"/>
          </a:xfrm>
          <a:prstGeom prst="ellipse">
            <a:avLst/>
          </a:prstGeom>
          <a:solidFill>
            <a:srgbClr val="00D4FF">
              <a:alpha val="7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2588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1168" y="304204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228600" y="9601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274320" y="1600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274320" y="2177398"/>
            <a:ext cx="4114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2"/>
          <p:cNvSpPr/>
          <p:nvPr/>
        </p:nvSpPr>
        <p:spPr>
          <a:xfrm>
            <a:off x="190898" y="2449333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</a:t>
            </a:r>
            <a:r>
              <a:rPr lang="en-US" sz="1300" i="1" dirty="0" smtClean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and Random </a:t>
            </a:r>
            <a:r>
              <a:rPr lang="en-US" sz="1300" i="1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— Classification &amp; Regression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2137" y="2981159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0027" y="3550490"/>
            <a:ext cx="5303520" cy="436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Gauri Ovhal </a:t>
            </a:r>
            <a:endParaRPr lang="en-US" sz="1300" dirty="0" smtClean="0">
              <a:solidFill>
                <a:srgbClr val="B8C4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 smtClean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Shravani Shinde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 smtClean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</a:t>
            </a:r>
            <a:r>
              <a:rPr lang="en-US" sz="13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Jadhav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16660" y="459486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1A2150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788183" y="4578542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1A2150"/>
          </a:solidFill>
          <a:ln/>
        </p:spPr>
      </p:sp>
      <p:sp>
        <p:nvSpPr>
          <p:cNvPr id="21" name="Text 18"/>
          <p:cNvSpPr/>
          <p:nvPr/>
        </p:nvSpPr>
        <p:spPr>
          <a:xfrm>
            <a:off x="1771684" y="4568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Flask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06286" y="4597884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1A2150"/>
          </a:solidFill>
          <a:ln/>
        </p:spPr>
      </p:sp>
      <p:sp>
        <p:nvSpPr>
          <p:cNvPr id="23" name="Text 20"/>
          <p:cNvSpPr/>
          <p:nvPr/>
        </p:nvSpPr>
        <p:spPr>
          <a:xfrm>
            <a:off x="3291840" y="45948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275612" y="457854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React.js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1A215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241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13990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D6E4EC"/>
                </a:solidFill>
              </a:rPr>
              <a:t>Build a web application to compare performance of Linear Regression and Random Forest Regressor on the Iris dataset, extended with a classification module.</a:t>
            </a:r>
            <a:endParaRPr lang="en-US" sz="1400" dirty="0"/>
          </a:p>
          <a:p>
            <a:pPr marL="0" indent="0">
              <a:buNone/>
            </a:pPr>
            <a:endParaRPr lang="en-US" sz="13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274320" y="2240280"/>
            <a:ext cx="2743200" cy="2377440"/>
            <a:chOff x="274320" y="2240280"/>
            <a:chExt cx="2743200" cy="2377440"/>
          </a:xfrm>
        </p:grpSpPr>
        <p:sp>
          <p:nvSpPr>
            <p:cNvPr id="9" name="Shape 6"/>
            <p:cNvSpPr/>
            <p:nvPr/>
          </p:nvSpPr>
          <p:spPr>
            <a:xfrm>
              <a:off x="274320" y="2240280"/>
              <a:ext cx="2743200" cy="237744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0" name="Shape 7"/>
            <p:cNvSpPr/>
            <p:nvPr/>
          </p:nvSpPr>
          <p:spPr>
            <a:xfrm>
              <a:off x="274320" y="2240280"/>
              <a:ext cx="2743200" cy="73152"/>
            </a:xfrm>
            <a:prstGeom prst="rect">
              <a:avLst/>
            </a:prstGeom>
            <a:solidFill>
              <a:srgbClr val="10B981"/>
            </a:solidFill>
            <a:ln/>
          </p:spPr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9888" y="2487168"/>
              <a:ext cx="512064" cy="512064"/>
            </a:xfrm>
            <a:prstGeom prst="snip2Diag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88900" algn="tl" rotWithShape="0">
                <a:srgbClr val="000000">
                  <a:alpha val="45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3" name="Text 9"/>
            <p:cNvSpPr/>
            <p:nvPr/>
          </p:nvSpPr>
          <p:spPr>
            <a:xfrm>
              <a:off x="274320" y="3246120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Input</a:t>
              </a:r>
              <a:endParaRPr lang="en-US" sz="15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411480" y="3611880"/>
              <a:ext cx="24688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 smtClean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Iris</a:t>
              </a:r>
              <a:r>
                <a:rPr lang="en-US" sz="1100" dirty="0" smtClean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data, select X/Y columns, choose models &amp; parameters</a:t>
              </a:r>
              <a:endParaRPr lang="en-US" sz="110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200400" y="2240280"/>
            <a:ext cx="2743200" cy="2377440"/>
            <a:chOff x="3200400" y="2240280"/>
            <a:chExt cx="2743200" cy="2377440"/>
          </a:xfrm>
        </p:grpSpPr>
        <p:sp>
          <p:nvSpPr>
            <p:cNvPr id="15" name="Shape 11"/>
            <p:cNvSpPr/>
            <p:nvPr/>
          </p:nvSpPr>
          <p:spPr>
            <a:xfrm>
              <a:off x="3200400" y="2240280"/>
              <a:ext cx="2743200" cy="237744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6" name="Shape 12"/>
            <p:cNvSpPr/>
            <p:nvPr/>
          </p:nvSpPr>
          <p:spPr>
            <a:xfrm>
              <a:off x="3200400" y="2240280"/>
              <a:ext cx="2743200" cy="73152"/>
            </a:xfrm>
            <a:prstGeom prst="rect">
              <a:avLst/>
            </a:prstGeom>
            <a:solidFill>
              <a:srgbClr val="7C3AED"/>
            </a:solidFill>
            <a:ln/>
          </p:spPr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2869" y="2496312"/>
              <a:ext cx="512064" cy="512064"/>
            </a:xfrm>
            <a:prstGeom prst="snip2Diag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88900" algn="tl" rotWithShape="0">
                <a:srgbClr val="000000">
                  <a:alpha val="45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9" name="Text 14"/>
            <p:cNvSpPr/>
            <p:nvPr/>
          </p:nvSpPr>
          <p:spPr>
            <a:xfrm>
              <a:off x="3200400" y="3246120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Training</a:t>
              </a:r>
              <a:endParaRPr lang="en-US" sz="150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3337560" y="3611880"/>
              <a:ext cx="24688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Trains LR, KNN &amp; Random Forest on your data instantly via Flask API</a:t>
              </a:r>
              <a:endParaRPr lang="en-US" sz="11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126480" y="2240280"/>
            <a:ext cx="2743200" cy="2377440"/>
            <a:chOff x="6126480" y="2240280"/>
            <a:chExt cx="2743200" cy="2377440"/>
          </a:xfrm>
        </p:grpSpPr>
        <p:sp>
          <p:nvSpPr>
            <p:cNvPr id="21" name="Shape 16"/>
            <p:cNvSpPr/>
            <p:nvPr/>
          </p:nvSpPr>
          <p:spPr>
            <a:xfrm>
              <a:off x="6126480" y="2240280"/>
              <a:ext cx="2743200" cy="237744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Shape 17"/>
            <p:cNvSpPr/>
            <p:nvPr/>
          </p:nvSpPr>
          <p:spPr>
            <a:xfrm>
              <a:off x="6126480" y="2240280"/>
              <a:ext cx="2743200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pic>
          <p:nvPicPr>
            <p:cNvPr id="24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2048" y="2543887"/>
              <a:ext cx="512064" cy="512064"/>
            </a:xfrm>
            <a:prstGeom prst="snip2Diag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88900" algn="tl" rotWithShape="0">
                <a:srgbClr val="000000">
                  <a:alpha val="45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25" name="Text 19"/>
            <p:cNvSpPr/>
            <p:nvPr/>
          </p:nvSpPr>
          <p:spPr>
            <a:xfrm>
              <a:off x="6126480" y="3246120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Visual Results</a:t>
              </a:r>
              <a:endParaRPr lang="en-US" sz="1500" dirty="0"/>
            </a:p>
          </p:txBody>
        </p:sp>
        <p:sp>
          <p:nvSpPr>
            <p:cNvPr id="26" name="Text 20"/>
            <p:cNvSpPr/>
            <p:nvPr/>
          </p:nvSpPr>
          <p:spPr>
            <a:xfrm>
              <a:off x="6263640" y="3611880"/>
              <a:ext cx="24688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Accuracy, MSE, RMSE, MAE, Residuals, Overfitting graphs &amp; more</a:t>
              </a:r>
              <a:endParaRPr lang="en-US" sz="1100" dirty="0"/>
            </a:p>
          </p:txBody>
        </p:sp>
      </p:grpSp>
      <p:sp>
        <p:nvSpPr>
          <p:cNvPr id="27" name="Text 21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8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26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274320" y="960120"/>
            <a:ext cx="3749040" cy="3749040"/>
            <a:chOff x="274320" y="960120"/>
            <a:chExt cx="3749040" cy="3749040"/>
          </a:xfrm>
        </p:grpSpPr>
        <p:sp>
          <p:nvSpPr>
            <p:cNvPr id="5" name="Shape 3"/>
            <p:cNvSpPr/>
            <p:nvPr/>
          </p:nvSpPr>
          <p:spPr>
            <a:xfrm>
              <a:off x="274320" y="960120"/>
              <a:ext cx="3749040" cy="374904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274320" y="960120"/>
              <a:ext cx="3749040" cy="54864"/>
            </a:xfrm>
            <a:prstGeom prst="rect">
              <a:avLst/>
            </a:prstGeom>
            <a:solidFill>
              <a:srgbClr val="00D4FF"/>
            </a:solidFill>
            <a:ln/>
          </p:spPr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1051560"/>
              <a:ext cx="411480" cy="411480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914400" y="1024128"/>
              <a:ext cx="2926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0D4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16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411480" y="1600200"/>
              <a:ext cx="73152" cy="329184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0" name="Text 7"/>
            <p:cNvSpPr/>
            <p:nvPr/>
          </p:nvSpPr>
          <p:spPr>
            <a:xfrm>
              <a:off x="594360" y="1600200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React.js — SPA Framework</a:t>
              </a:r>
              <a:endParaRPr lang="en-US" sz="13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411480" y="2167128"/>
              <a:ext cx="73152" cy="329184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2" name="Text 9"/>
            <p:cNvSpPr/>
            <p:nvPr/>
          </p:nvSpPr>
          <p:spPr>
            <a:xfrm>
              <a:off x="594360" y="2167128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React Router — Page Navigation</a:t>
              </a:r>
              <a:endParaRPr lang="en-US" sz="13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11480" y="2734056"/>
              <a:ext cx="73152" cy="329184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4" name="Text 11"/>
            <p:cNvSpPr/>
            <p:nvPr/>
          </p:nvSpPr>
          <p:spPr>
            <a:xfrm>
              <a:off x="594360" y="2734056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Recharts — Data Visualization</a:t>
              </a:r>
              <a:endParaRPr lang="en-US" sz="13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411480" y="3300984"/>
              <a:ext cx="73152" cy="329184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6" name="Text 13"/>
            <p:cNvSpPr/>
            <p:nvPr/>
          </p:nvSpPr>
          <p:spPr>
            <a:xfrm>
              <a:off x="594360" y="3300984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Axios — API Communication</a:t>
              </a:r>
              <a:endParaRPr lang="en-US" sz="13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411480" y="3867912"/>
              <a:ext cx="73152" cy="329184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8" name="Text 15"/>
            <p:cNvSpPr/>
            <p:nvPr/>
          </p:nvSpPr>
          <p:spPr>
            <a:xfrm>
              <a:off x="594360" y="3867912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CSS Modules — Styling</a:t>
              </a:r>
              <a:endParaRPr lang="en-US" sz="1300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094392" y="2468880"/>
            <a:ext cx="1005840" cy="388620"/>
            <a:chOff x="4094392" y="2468880"/>
            <a:chExt cx="1005840" cy="388620"/>
          </a:xfrm>
        </p:grpSpPr>
        <p:grpSp>
          <p:nvGrpSpPr>
            <p:cNvPr id="39" name="Group 38"/>
            <p:cNvGrpSpPr/>
            <p:nvPr/>
          </p:nvGrpSpPr>
          <p:grpSpPr>
            <a:xfrm>
              <a:off x="4094392" y="2468880"/>
              <a:ext cx="934808" cy="278892"/>
              <a:chOff x="4094392" y="2468880"/>
              <a:chExt cx="934808" cy="278892"/>
            </a:xfrm>
          </p:grpSpPr>
          <p:sp>
            <p:nvSpPr>
              <p:cNvPr id="19" name="Shape 16"/>
              <p:cNvSpPr/>
              <p:nvPr/>
            </p:nvSpPr>
            <p:spPr>
              <a:xfrm>
                <a:off x="4094392" y="2692908"/>
                <a:ext cx="822960" cy="54864"/>
              </a:xfrm>
              <a:prstGeom prst="rect">
                <a:avLst/>
              </a:prstGeom>
              <a:solidFill>
                <a:srgbClr val="00D4FF"/>
              </a:solidFill>
              <a:ln/>
            </p:spPr>
          </p:sp>
          <p:sp>
            <p:nvSpPr>
              <p:cNvPr id="20" name="Text 17"/>
              <p:cNvSpPr/>
              <p:nvPr/>
            </p:nvSpPr>
            <p:spPr>
              <a:xfrm>
                <a:off x="4114800" y="2468880"/>
                <a:ext cx="91440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0D4FF"/>
                    </a:solidFill>
                  </a:rPr>
                  <a:t>REST API</a:t>
                </a:r>
                <a:endParaRPr lang="en-US" sz="900" dirty="0"/>
              </a:p>
            </p:txBody>
          </p:sp>
        </p:grpSp>
        <p:sp>
          <p:nvSpPr>
            <p:cNvPr id="21" name="Text 18"/>
            <p:cNvSpPr/>
            <p:nvPr/>
          </p:nvSpPr>
          <p:spPr>
            <a:xfrm>
              <a:off x="4825912" y="2583180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 smtClean="0">
                  <a:solidFill>
                    <a:srgbClr val="00D4FF"/>
                  </a:solidFill>
                </a:rPr>
                <a:t>▶</a:t>
              </a:r>
              <a:endParaRPr lang="en-US" sz="14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120640" y="960120"/>
            <a:ext cx="3749040" cy="3749040"/>
            <a:chOff x="5120640" y="960120"/>
            <a:chExt cx="3749040" cy="3749040"/>
          </a:xfrm>
        </p:grpSpPr>
        <p:sp>
          <p:nvSpPr>
            <p:cNvPr id="22" name="Shape 19"/>
            <p:cNvSpPr/>
            <p:nvPr/>
          </p:nvSpPr>
          <p:spPr>
            <a:xfrm>
              <a:off x="5120640" y="960120"/>
              <a:ext cx="3749040" cy="374904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3" name="Shape 20"/>
            <p:cNvSpPr/>
            <p:nvPr/>
          </p:nvSpPr>
          <p:spPr>
            <a:xfrm>
              <a:off x="5120640" y="960120"/>
              <a:ext cx="3749040" cy="54864"/>
            </a:xfrm>
            <a:prstGeom prst="rect">
              <a:avLst/>
            </a:prstGeom>
            <a:solidFill>
              <a:srgbClr val="7C3AED"/>
            </a:solidFill>
            <a:ln/>
          </p:spPr>
        </p:sp>
        <p:pic>
          <p:nvPicPr>
            <p:cNvPr id="2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800" y="1051560"/>
              <a:ext cx="411480" cy="411480"/>
            </a:xfrm>
            <a:prstGeom prst="rect">
              <a:avLst/>
            </a:prstGeom>
          </p:spPr>
        </p:pic>
        <p:sp>
          <p:nvSpPr>
            <p:cNvPr id="25" name="Text 21"/>
            <p:cNvSpPr/>
            <p:nvPr/>
          </p:nvSpPr>
          <p:spPr>
            <a:xfrm>
              <a:off x="5760720" y="1024128"/>
              <a:ext cx="2926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(Python)</a:t>
              </a:r>
              <a:endParaRPr lang="en-US" sz="160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5257800" y="1600200"/>
              <a:ext cx="73152" cy="32918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7" name="Text 23"/>
            <p:cNvSpPr/>
            <p:nvPr/>
          </p:nvSpPr>
          <p:spPr>
            <a:xfrm>
              <a:off x="5440680" y="1600200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 — REST API Server</a:t>
              </a:r>
              <a:endParaRPr lang="en-US" sz="1300" dirty="0"/>
            </a:p>
          </p:txBody>
        </p:sp>
        <p:sp>
          <p:nvSpPr>
            <p:cNvPr id="28" name="Shape 24"/>
            <p:cNvSpPr/>
            <p:nvPr/>
          </p:nvSpPr>
          <p:spPr>
            <a:xfrm>
              <a:off x="5257800" y="2167128"/>
              <a:ext cx="73152" cy="32918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9" name="Text 25"/>
            <p:cNvSpPr/>
            <p:nvPr/>
          </p:nvSpPr>
          <p:spPr>
            <a:xfrm>
              <a:off x="5440680" y="2167128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 — ML Models</a:t>
              </a:r>
              <a:endParaRPr lang="en-US" sz="1300" dirty="0"/>
            </a:p>
          </p:txBody>
        </p:sp>
        <p:sp>
          <p:nvSpPr>
            <p:cNvPr id="30" name="Shape 26"/>
            <p:cNvSpPr/>
            <p:nvPr/>
          </p:nvSpPr>
          <p:spPr>
            <a:xfrm>
              <a:off x="5257800" y="2734056"/>
              <a:ext cx="73152" cy="32918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1" name="Text 27"/>
            <p:cNvSpPr/>
            <p:nvPr/>
          </p:nvSpPr>
          <p:spPr>
            <a:xfrm>
              <a:off x="5440680" y="2734056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Pandas — Data Processing</a:t>
              </a:r>
              <a:endParaRPr lang="en-US" sz="1300" dirty="0"/>
            </a:p>
          </p:txBody>
        </p:sp>
        <p:sp>
          <p:nvSpPr>
            <p:cNvPr id="32" name="Shape 28"/>
            <p:cNvSpPr/>
            <p:nvPr/>
          </p:nvSpPr>
          <p:spPr>
            <a:xfrm>
              <a:off x="5257800" y="3300984"/>
              <a:ext cx="73152" cy="32918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3" name="Text 29"/>
            <p:cNvSpPr/>
            <p:nvPr/>
          </p:nvSpPr>
          <p:spPr>
            <a:xfrm>
              <a:off x="5440680" y="3300984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NumPy — Numerical Ops</a:t>
              </a:r>
              <a:endParaRPr lang="en-US" sz="1300" dirty="0"/>
            </a:p>
          </p:txBody>
        </p:sp>
        <p:sp>
          <p:nvSpPr>
            <p:cNvPr id="34" name="Shape 30"/>
            <p:cNvSpPr/>
            <p:nvPr/>
          </p:nvSpPr>
          <p:spPr>
            <a:xfrm>
              <a:off x="5257800" y="3867912"/>
              <a:ext cx="73152" cy="32918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5" name="Text 31"/>
            <p:cNvSpPr/>
            <p:nvPr/>
          </p:nvSpPr>
          <p:spPr>
            <a:xfrm>
              <a:off x="5440680" y="3867912"/>
              <a:ext cx="3291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Flask-CORS — Cross Origin</a:t>
              </a:r>
              <a:endParaRPr lang="en-US" sz="1300" dirty="0"/>
            </a:p>
          </p:txBody>
        </p:sp>
      </p:grpSp>
      <p:sp>
        <p:nvSpPr>
          <p:cNvPr id="36" name="Text 32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8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REGRESSION </a:t>
            </a: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8"/>
                </a:solidFill>
              </a:rPr>
              <a:t>4</a:t>
            </a:r>
            <a:endParaRPr lang="en-US" sz="11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487255" y="988495"/>
            <a:ext cx="4747685" cy="3840480"/>
            <a:chOff x="487255" y="988495"/>
            <a:chExt cx="4747685" cy="3840480"/>
          </a:xfrm>
        </p:grpSpPr>
        <p:grpSp>
          <p:nvGrpSpPr>
            <p:cNvPr id="48" name="Group 47"/>
            <p:cNvGrpSpPr/>
            <p:nvPr/>
          </p:nvGrpSpPr>
          <p:grpSpPr>
            <a:xfrm>
              <a:off x="487255" y="988495"/>
              <a:ext cx="4016165" cy="3840480"/>
              <a:chOff x="155868" y="960120"/>
              <a:chExt cx="2815932" cy="3840480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182880" y="960120"/>
                <a:ext cx="2788920" cy="3840480"/>
              </a:xfrm>
              <a:prstGeom prst="rect">
                <a:avLst/>
              </a:prstGeom>
              <a:solidFill>
                <a:srgbClr val="1A2150"/>
              </a:solidFill>
              <a:ln/>
              <a:effectLst>
                <a:outerShdw blurRad="127000" dist="38100" dir="8100000" algn="bl" rotWithShape="0">
                  <a:srgbClr val="000000">
                    <a:alpha val="35000"/>
                  </a:srgbClr>
                </a:outerShdw>
              </a:effectLst>
            </p:spPr>
          </p:sp>
          <p:sp>
            <p:nvSpPr>
              <p:cNvPr id="6" name="Shape 4"/>
              <p:cNvSpPr/>
              <p:nvPr/>
            </p:nvSpPr>
            <p:spPr>
              <a:xfrm>
                <a:off x="182880" y="960120"/>
                <a:ext cx="2788920" cy="54864"/>
              </a:xfrm>
              <a:prstGeom prst="rect">
                <a:avLst/>
              </a:prstGeom>
              <a:solidFill>
                <a:srgbClr val="00D4FF"/>
              </a:solidFill>
              <a:ln/>
            </p:spPr>
          </p:sp>
          <p:sp>
            <p:nvSpPr>
              <p:cNvPr id="7" name="Shape 5"/>
              <p:cNvSpPr/>
              <p:nvPr/>
            </p:nvSpPr>
            <p:spPr>
              <a:xfrm>
                <a:off x="1138848" y="1094653"/>
                <a:ext cx="822960" cy="950976"/>
              </a:xfrm>
              <a:prstGeom prst="ellipse">
                <a:avLst/>
              </a:prstGeom>
              <a:solidFill>
                <a:srgbClr val="00D4FF">
                  <a:alpha val="75000"/>
                </a:srgbClr>
              </a:solidFill>
              <a:ln/>
            </p:spPr>
          </p:sp>
          <p:sp>
            <p:nvSpPr>
              <p:cNvPr id="9" name="Text 7"/>
              <p:cNvSpPr/>
              <p:nvPr/>
            </p:nvSpPr>
            <p:spPr>
              <a:xfrm>
                <a:off x="155868" y="2152036"/>
                <a:ext cx="278892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 smtClean="0">
                    <a:solidFill>
                      <a:srgbClr val="00D4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Linear  Regression</a:t>
                </a:r>
                <a:endParaRPr lang="en-US" sz="2800" dirty="0"/>
              </a:p>
            </p:txBody>
          </p:sp>
        </p:grpSp>
        <p:sp>
          <p:nvSpPr>
            <p:cNvPr id="8" name="Text 6"/>
            <p:cNvSpPr/>
            <p:nvPr/>
          </p:nvSpPr>
          <p:spPr>
            <a:xfrm>
              <a:off x="2064595" y="1146196"/>
              <a:ext cx="82296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LR</a:t>
              </a:r>
              <a:endParaRPr lang="en-US" sz="32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62940" y="2719702"/>
              <a:ext cx="4572000" cy="17851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Fits a straight line: y = mx + b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Assumes linear relationship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Fast to train &amp; interpret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Sensitive to outliers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Best for simple linear patterns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5153954" y="967508"/>
            <a:ext cx="3738587" cy="3833092"/>
            <a:chOff x="5153954" y="967508"/>
            <a:chExt cx="3738587" cy="3833092"/>
          </a:xfrm>
        </p:grpSpPr>
        <p:sp>
          <p:nvSpPr>
            <p:cNvPr id="33" name="Shape 31"/>
            <p:cNvSpPr/>
            <p:nvPr/>
          </p:nvSpPr>
          <p:spPr>
            <a:xfrm>
              <a:off x="5153954" y="967508"/>
              <a:ext cx="3670007" cy="3833092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5153954" y="967508"/>
              <a:ext cx="3648985" cy="75851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6518755" y="1099274"/>
              <a:ext cx="1067948" cy="974730"/>
            </a:xfrm>
            <a:prstGeom prst="ellipse">
              <a:avLst/>
            </a:prstGeom>
            <a:solidFill>
              <a:srgbClr val="10B981">
                <a:alpha val="75000"/>
              </a:srgbClr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6639566" y="1093028"/>
              <a:ext cx="827701" cy="8435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RF</a:t>
              </a:r>
              <a:endParaRPr lang="en-US" sz="3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764696" y="2107096"/>
              <a:ext cx="2804986" cy="374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</a:t>
              </a:r>
              <a:endParaRPr lang="en-US" sz="28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218869" y="2631359"/>
              <a:ext cx="3673672" cy="1829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>
                  <a:solidFill>
                    <a:schemeClr val="bg1"/>
                  </a:solidFill>
                </a:rPr>
                <a:t>Ensemble of many decision trees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>
                  <a:solidFill>
                    <a:schemeClr val="bg1"/>
                  </a:solidFill>
                </a:rPr>
                <a:t>Handles non-linear data well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>
                  <a:solidFill>
                    <a:schemeClr val="bg1"/>
                  </a:solidFill>
                </a:rPr>
                <a:t>Robust to outliers &amp; noise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>
                  <a:solidFill>
                    <a:schemeClr val="bg1"/>
                  </a:solidFill>
                </a:rPr>
                <a:t>Higher accuracy, slower inference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>
                  <a:solidFill>
                    <a:schemeClr val="bg1"/>
                  </a:solidFill>
                </a:rPr>
                <a:t>Feature importance insights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51" name="Shape 11"/>
          <p:cNvSpPr/>
          <p:nvPr/>
        </p:nvSpPr>
        <p:spPr>
          <a:xfrm>
            <a:off x="4400718" y="2148734"/>
            <a:ext cx="822960" cy="8229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2" name="TextBox 51"/>
          <p:cNvSpPr txBox="1"/>
          <p:nvPr/>
        </p:nvSpPr>
        <p:spPr>
          <a:xfrm>
            <a:off x="4578030" y="2416494"/>
            <a:ext cx="49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4D8"/>
                </a:solidFill>
              </a:rPr>
              <a:t>VS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787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en-US" sz="2600" b="1" kern="0" spc="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 </a:t>
            </a: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2600" dirty="0"/>
          </a:p>
        </p:txBody>
      </p:sp>
      <p:grpSp>
        <p:nvGrpSpPr>
          <p:cNvPr id="48" name="Group 47"/>
          <p:cNvGrpSpPr/>
          <p:nvPr/>
        </p:nvGrpSpPr>
        <p:grpSpPr>
          <a:xfrm>
            <a:off x="182880" y="960120"/>
            <a:ext cx="2788920" cy="3840480"/>
            <a:chOff x="182880" y="960120"/>
            <a:chExt cx="2788920" cy="3840480"/>
          </a:xfrm>
        </p:grpSpPr>
        <p:sp>
          <p:nvSpPr>
            <p:cNvPr id="5" name="Shape 3"/>
            <p:cNvSpPr/>
            <p:nvPr/>
          </p:nvSpPr>
          <p:spPr>
            <a:xfrm>
              <a:off x="182880" y="960120"/>
              <a:ext cx="2788920" cy="38404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182880" y="960120"/>
              <a:ext cx="2788920" cy="54864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1161288" y="1106424"/>
              <a:ext cx="822960" cy="822960"/>
            </a:xfrm>
            <a:prstGeom prst="ellipse">
              <a:avLst/>
            </a:prstGeom>
            <a:solidFill>
              <a:srgbClr val="00D4FF">
                <a:alpha val="75000"/>
              </a:srgbClr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161288" y="1078992"/>
              <a:ext cx="82296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LR</a:t>
              </a:r>
              <a:endParaRPr lang="en-US" sz="2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82880" y="2029968"/>
              <a:ext cx="2788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0D4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Logistic Regression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65760" y="2468880"/>
              <a:ext cx="2423160" cy="274320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365760" y="246888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max_iter=200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92608" y="2834640"/>
              <a:ext cx="256032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Linear decision boundary model, great for binary classification. Fast, interpretable, works well on linearly separable data.</a:t>
              </a:r>
              <a:endParaRPr lang="en-US" sz="10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0040" y="3749040"/>
              <a:ext cx="164592" cy="164592"/>
            </a:xfrm>
            <a:prstGeom prst="ellipse">
              <a:avLst/>
            </a:prstGeom>
            <a:solidFill>
              <a:srgbClr val="00D4FF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566928" y="3703320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 training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20040" y="4059936"/>
              <a:ext cx="164592" cy="164592"/>
            </a:xfrm>
            <a:prstGeom prst="ellipse">
              <a:avLst/>
            </a:prstGeom>
            <a:solidFill>
              <a:srgbClr val="00D4FF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566928" y="4014216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Highly interpretable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4370832"/>
              <a:ext cx="164592" cy="164592"/>
            </a:xfrm>
            <a:prstGeom prst="ellipse">
              <a:avLst/>
            </a:prstGeom>
            <a:solidFill>
              <a:srgbClr val="00D4FF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566928" y="4325112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Probabilistic output</a:t>
              </a:r>
              <a:endParaRPr lang="en-US" sz="1100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108960" y="960120"/>
            <a:ext cx="2788920" cy="3840480"/>
            <a:chOff x="3108960" y="960120"/>
            <a:chExt cx="2788920" cy="3840480"/>
          </a:xfrm>
        </p:grpSpPr>
        <p:sp>
          <p:nvSpPr>
            <p:cNvPr id="19" name="Shape 17"/>
            <p:cNvSpPr/>
            <p:nvPr/>
          </p:nvSpPr>
          <p:spPr>
            <a:xfrm>
              <a:off x="3108960" y="960120"/>
              <a:ext cx="2788920" cy="38404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3108960" y="960120"/>
              <a:ext cx="2788920" cy="5486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4087368" y="1078992"/>
              <a:ext cx="822960" cy="822960"/>
            </a:xfrm>
            <a:prstGeom prst="ellipse">
              <a:avLst/>
            </a:prstGeom>
            <a:solidFill>
              <a:srgbClr val="7C3AED">
                <a:alpha val="75000"/>
              </a:srgbClr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087368" y="1078992"/>
              <a:ext cx="82296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KNN</a:t>
              </a:r>
              <a:endParaRPr lang="en-US" sz="2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108960" y="2029968"/>
              <a:ext cx="2788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K-Nearest Neighbors</a:t>
              </a:r>
              <a:endParaRPr lang="en-US" sz="13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91840" y="2468880"/>
              <a:ext cx="2423160" cy="274320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291840" y="246888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n_neighbors=5</a:t>
              </a:r>
              <a:endParaRPr lang="en-US" sz="11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218688" y="2834640"/>
              <a:ext cx="256032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Instance-based learning — classifies based on the majority vote of K nearest neighbors in feature space.</a:t>
              </a:r>
              <a:endParaRPr lang="en-US" sz="10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246120" y="3749040"/>
              <a:ext cx="164592" cy="164592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3493008" y="3703320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training phase</a:t>
              </a:r>
              <a:endParaRPr lang="en-US" sz="11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246120" y="4059936"/>
              <a:ext cx="164592" cy="164592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3493008" y="4014216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Non-linear boundaries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246120" y="4370832"/>
              <a:ext cx="164592" cy="164592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3493008" y="4325112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Simple algorithm</a:t>
              </a:r>
              <a:endParaRPr lang="en-US" sz="1100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035040" y="960120"/>
            <a:ext cx="2788920" cy="3840480"/>
            <a:chOff x="6035040" y="960120"/>
            <a:chExt cx="2788920" cy="3840480"/>
          </a:xfrm>
        </p:grpSpPr>
        <p:sp>
          <p:nvSpPr>
            <p:cNvPr id="33" name="Shape 31"/>
            <p:cNvSpPr/>
            <p:nvPr/>
          </p:nvSpPr>
          <p:spPr>
            <a:xfrm>
              <a:off x="6035040" y="960120"/>
              <a:ext cx="2788920" cy="38404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6035040" y="960120"/>
              <a:ext cx="2788920" cy="54864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35" name="Shape 33"/>
            <p:cNvSpPr/>
            <p:nvPr/>
          </p:nvSpPr>
          <p:spPr>
            <a:xfrm>
              <a:off x="7013448" y="1078992"/>
              <a:ext cx="822960" cy="822960"/>
            </a:xfrm>
            <a:prstGeom prst="ellipse">
              <a:avLst/>
            </a:prstGeom>
            <a:solidFill>
              <a:srgbClr val="10B981">
                <a:alpha val="75000"/>
              </a:srgbClr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7013448" y="1078992"/>
              <a:ext cx="82296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RF</a:t>
              </a:r>
              <a:endParaRPr lang="en-US" sz="20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035040" y="2029968"/>
              <a:ext cx="27889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</a:t>
              </a:r>
              <a:endParaRPr lang="en-US" sz="13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6217920" y="2468880"/>
              <a:ext cx="2423160" cy="274320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6217920" y="2468880"/>
              <a:ext cx="2423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n_estimators=50</a:t>
              </a:r>
              <a:endParaRPr lang="en-US" sz="11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144768" y="2834640"/>
              <a:ext cx="256032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Ensemble of decision trees using bagging. Reduces overfitting, handles high-dimensional data well.</a:t>
              </a:r>
              <a:endParaRPr lang="en-US" sz="10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6172200" y="3749040"/>
              <a:ext cx="164592" cy="164592"/>
            </a:xfrm>
            <a:prstGeom prst="ellipse">
              <a:avLst/>
            </a:prstGeom>
            <a:solidFill>
              <a:srgbClr val="10B981"/>
            </a:solidFill>
            <a:ln/>
          </p:spPr>
        </p:sp>
        <p:sp>
          <p:nvSpPr>
            <p:cNvPr id="42" name="Text 40"/>
            <p:cNvSpPr/>
            <p:nvPr/>
          </p:nvSpPr>
          <p:spPr>
            <a:xfrm>
              <a:off x="6419088" y="3703320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accuracy</a:t>
              </a:r>
              <a:endParaRPr lang="en-US" sz="11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172200" y="4059936"/>
              <a:ext cx="164592" cy="164592"/>
            </a:xfrm>
            <a:prstGeom prst="ellipse">
              <a:avLst/>
            </a:prstGeom>
            <a:solidFill>
              <a:srgbClr val="10B981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6419088" y="4014216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Handles noise well</a:t>
              </a:r>
              <a:endParaRPr lang="en-US" sz="11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6172200" y="4370832"/>
              <a:ext cx="164592" cy="164592"/>
            </a:xfrm>
            <a:prstGeom prst="ellipse">
              <a:avLst/>
            </a:prstGeom>
            <a:solidFill>
              <a:srgbClr val="10B981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6419088" y="4325112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 importance</a:t>
              </a:r>
              <a:endParaRPr lang="en-US" sz="1100" dirty="0"/>
            </a:p>
          </p:txBody>
        </p:sp>
      </p:grpSp>
      <p:sp>
        <p:nvSpPr>
          <p:cNvPr id="47" name="Text 45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8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ERROR METRICS COMPARISON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97280"/>
            <a:ext cx="3291840" cy="868680"/>
          </a:xfrm>
          <a:prstGeom prst="rect">
            <a:avLst/>
          </a:prstGeom>
          <a:solidFill>
            <a:srgbClr val="1A215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09728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1143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76072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18.5   RF: 9.2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09560" y="1298448"/>
            <a:ext cx="777240" cy="4114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129844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RF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2148840"/>
            <a:ext cx="3291840" cy="868680"/>
          </a:xfrm>
          <a:prstGeom prst="rect">
            <a:avLst/>
          </a:prstGeom>
          <a:solidFill>
            <a:srgbClr val="1A215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148840"/>
            <a:ext cx="73152" cy="8686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2194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60720" y="2606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4.30   RF: 3.00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09560" y="2350008"/>
            <a:ext cx="777240" cy="411480"/>
          </a:xfrm>
          <a:prstGeom prst="rect">
            <a:avLst/>
          </a:prstGeom>
          <a:solidFill>
            <a:srgbClr val="00D4FF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235000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✓ RF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3200400"/>
            <a:ext cx="3291840" cy="868680"/>
          </a:xfrm>
          <a:prstGeom prst="rect">
            <a:avLst/>
          </a:prstGeom>
          <a:solidFill>
            <a:srgbClr val="1A215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20040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5760720" y="3246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76072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3.20   RF: 2.10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09560" y="3401568"/>
            <a:ext cx="777240" cy="41148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909560" y="34015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✓ RF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consistently outperforms LR in regression tasks with lower error values across all metrics.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8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MODEL COMPARISON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914400"/>
            <a:ext cx="3383280" cy="3200400"/>
          </a:xfrm>
          <a:prstGeom prst="rect">
            <a:avLst/>
          </a:prstGeom>
          <a:solidFill>
            <a:srgbClr val="1A2150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0" y="960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Metrics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371600"/>
          <a:ext cx="3200400" cy="164592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3200400"/>
            <a:ext cx="3200400" cy="77724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29184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200" y="32644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Random Forest (94% Accuracy)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Values shown are representative results on sample dataset. Actual values vary with input data.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8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VISUALIZATIONS</a:t>
            </a:r>
            <a:endParaRPr lang="en-US" sz="2200" dirty="0"/>
          </a:p>
        </p:txBody>
      </p:sp>
      <p:grpSp>
        <p:nvGrpSpPr>
          <p:cNvPr id="64" name="Group 63"/>
          <p:cNvGrpSpPr/>
          <p:nvPr/>
        </p:nvGrpSpPr>
        <p:grpSpPr>
          <a:xfrm>
            <a:off x="182880" y="960120"/>
            <a:ext cx="2788920" cy="3840480"/>
            <a:chOff x="182880" y="960120"/>
            <a:chExt cx="2788920" cy="3840480"/>
          </a:xfrm>
        </p:grpSpPr>
        <p:sp>
          <p:nvSpPr>
            <p:cNvPr id="5" name="Shape 3"/>
            <p:cNvSpPr/>
            <p:nvPr/>
          </p:nvSpPr>
          <p:spPr>
            <a:xfrm>
              <a:off x="182880" y="960120"/>
              <a:ext cx="2788920" cy="38404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182880" y="960120"/>
              <a:ext cx="2788920" cy="402336"/>
            </a:xfrm>
            <a:prstGeom prst="rect">
              <a:avLst/>
            </a:prstGeom>
            <a:solidFill>
              <a:srgbClr val="00D4FF">
                <a:alpha val="80000"/>
              </a:srgbClr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182880" y="960120"/>
              <a:ext cx="278892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 &amp; Configuration</a:t>
              </a:r>
              <a:endParaRPr lang="en-US" sz="13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0040" y="15361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320040" y="1536192"/>
              <a:ext cx="54864" cy="530352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38912" y="15361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 smtClean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Iris </a:t>
              </a:r>
              <a:r>
                <a:rPr lang="en-US" sz="1200" dirty="0" smtClean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</a:t>
              </a:r>
              <a:endParaRPr lang="en-US" sz="12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0040" y="22219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320040" y="2221992"/>
              <a:ext cx="54864" cy="530352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38912" y="22219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 X &amp; Y columns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20040" y="29077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320040" y="2907792"/>
              <a:ext cx="54864" cy="530352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438912" y="29077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Choose models to compare</a:t>
              </a:r>
              <a:endParaRPr lang="en-US" sz="12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35935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320040" y="3593592"/>
              <a:ext cx="54864" cy="530352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38912" y="35935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Tune hyperparameters</a:t>
              </a:r>
              <a:endParaRPr lang="en-US" sz="1200" dirty="0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154680" y="960120"/>
            <a:ext cx="2788920" cy="3840480"/>
            <a:chOff x="3154680" y="960120"/>
            <a:chExt cx="2788920" cy="3840480"/>
          </a:xfrm>
        </p:grpSpPr>
        <p:sp>
          <p:nvSpPr>
            <p:cNvPr id="20" name="Shape 18"/>
            <p:cNvSpPr/>
            <p:nvPr/>
          </p:nvSpPr>
          <p:spPr>
            <a:xfrm>
              <a:off x="3154680" y="960120"/>
              <a:ext cx="2788920" cy="38404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3154680" y="960120"/>
              <a:ext cx="2788920" cy="402336"/>
            </a:xfrm>
            <a:prstGeom prst="rect">
              <a:avLst/>
            </a:prstGeom>
            <a:solidFill>
              <a:srgbClr val="7C3AED">
                <a:alpha val="80000"/>
              </a:srgbClr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3154680" y="960120"/>
              <a:ext cx="278892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Classification Output</a:t>
              </a:r>
              <a:endParaRPr lang="en-US" sz="13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291840" y="15361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3291840" y="1536192"/>
              <a:ext cx="54864" cy="530352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3410712" y="15361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 comparison chart</a:t>
              </a:r>
              <a:endParaRPr lang="en-US" sz="12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291840" y="22219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3291840" y="2221992"/>
              <a:ext cx="54864" cy="530352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3410712" y="22219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Precision / Recall / F1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291840" y="29077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3291840" y="2907792"/>
              <a:ext cx="54864" cy="530352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3410712" y="29077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Confusion matrix view</a:t>
              </a:r>
              <a:endParaRPr lang="en-US" sz="12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291840" y="35935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33" name="Shape 31"/>
            <p:cNvSpPr/>
            <p:nvPr/>
          </p:nvSpPr>
          <p:spPr>
            <a:xfrm>
              <a:off x="3291840" y="3593592"/>
              <a:ext cx="54864" cy="530352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3410712" y="35935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profile cards</a:t>
              </a:r>
              <a:endParaRPr lang="en-US" sz="1200" dirty="0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6126480" y="960120"/>
            <a:ext cx="2788920" cy="3840480"/>
            <a:chOff x="6126480" y="960120"/>
            <a:chExt cx="2788920" cy="3840480"/>
          </a:xfrm>
        </p:grpSpPr>
        <p:sp>
          <p:nvSpPr>
            <p:cNvPr id="35" name="Shape 33"/>
            <p:cNvSpPr/>
            <p:nvPr/>
          </p:nvSpPr>
          <p:spPr>
            <a:xfrm>
              <a:off x="6126480" y="960120"/>
              <a:ext cx="2788920" cy="38404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6" name="Shape 34"/>
            <p:cNvSpPr/>
            <p:nvPr/>
          </p:nvSpPr>
          <p:spPr>
            <a:xfrm>
              <a:off x="6126480" y="960120"/>
              <a:ext cx="2788920" cy="402336"/>
            </a:xfrm>
            <a:prstGeom prst="rect">
              <a:avLst/>
            </a:prstGeom>
            <a:solidFill>
              <a:srgbClr val="10B981">
                <a:alpha val="80000"/>
              </a:srgbClr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6126480" y="960120"/>
              <a:ext cx="278892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Regression Output</a:t>
              </a:r>
              <a:endParaRPr lang="en-US" sz="13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6263640" y="15361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6263640" y="1536192"/>
              <a:ext cx="54864" cy="530352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6382512" y="15361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MSE / RMSE / MAE charts</a:t>
              </a:r>
              <a:endParaRPr lang="en-US" sz="12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6263640" y="22219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42" name="Shape 40"/>
            <p:cNvSpPr/>
            <p:nvPr/>
          </p:nvSpPr>
          <p:spPr>
            <a:xfrm>
              <a:off x="6263640" y="2221992"/>
              <a:ext cx="54864" cy="530352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6382512" y="22219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Residual plot per model</a:t>
              </a:r>
              <a:endParaRPr lang="en-US" sz="12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263640" y="29077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45" name="Shape 43"/>
            <p:cNvSpPr/>
            <p:nvPr/>
          </p:nvSpPr>
          <p:spPr>
            <a:xfrm>
              <a:off x="6263640" y="2907792"/>
              <a:ext cx="54864" cy="530352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6382512" y="29077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Overfitting graph</a:t>
              </a:r>
              <a:endParaRPr lang="en-US" sz="12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263640" y="3593592"/>
              <a:ext cx="2514600" cy="530352"/>
            </a:xfrm>
            <a:prstGeom prst="rect">
              <a:avLst/>
            </a:prstGeom>
            <a:solidFill>
              <a:srgbClr val="0A0F2E"/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6263640" y="3593592"/>
              <a:ext cx="54864" cy="530352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6382512" y="3593592"/>
              <a:ext cx="23774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time comparison</a:t>
              </a:r>
              <a:endParaRPr lang="en-US" sz="120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8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LEARNINGS</a:t>
            </a:r>
            <a:endParaRPr lang="en-US" sz="26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274320" y="1005840"/>
            <a:ext cx="8595360" cy="621792"/>
            <a:chOff x="274320" y="1005840"/>
            <a:chExt cx="8595360" cy="621792"/>
          </a:xfrm>
        </p:grpSpPr>
        <p:sp>
          <p:nvSpPr>
            <p:cNvPr id="5" name="Shape 3"/>
            <p:cNvSpPr/>
            <p:nvPr/>
          </p:nvSpPr>
          <p:spPr>
            <a:xfrm>
              <a:off x="274320" y="1005840"/>
              <a:ext cx="8595360" cy="621792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274320" y="1005840"/>
              <a:ext cx="91440" cy="621792"/>
            </a:xfrm>
            <a:prstGeom prst="rect">
              <a:avLst/>
            </a:prstGeom>
            <a:solidFill>
              <a:srgbClr val="10B981"/>
            </a:solidFill>
            <a:ln/>
          </p:spPr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060704"/>
              <a:ext cx="320040" cy="320040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914400" y="1005840"/>
              <a:ext cx="78181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 consistently delivers highest accuracy (94%) for classification but takes longer to train than simpler models.</a:t>
              </a:r>
              <a:endParaRPr lang="en-US" sz="13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74320" y="1755648"/>
            <a:ext cx="8595360" cy="621792"/>
            <a:chOff x="274320" y="1755648"/>
            <a:chExt cx="8595360" cy="621792"/>
          </a:xfrm>
        </p:grpSpPr>
        <p:sp>
          <p:nvSpPr>
            <p:cNvPr id="9" name="Shape 6"/>
            <p:cNvSpPr/>
            <p:nvPr/>
          </p:nvSpPr>
          <p:spPr>
            <a:xfrm>
              <a:off x="274320" y="1755648"/>
              <a:ext cx="8595360" cy="621792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0" name="Shape 7"/>
            <p:cNvSpPr/>
            <p:nvPr/>
          </p:nvSpPr>
          <p:spPr>
            <a:xfrm>
              <a:off x="274320" y="1755648"/>
              <a:ext cx="91440" cy="621792"/>
            </a:xfrm>
            <a:prstGeom prst="rect">
              <a:avLst/>
            </a:prstGeom>
            <a:solidFill>
              <a:srgbClr val="7C3AED"/>
            </a:solidFill>
            <a:ln/>
          </p:spPr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810512"/>
              <a:ext cx="320040" cy="32004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914400" y="1755648"/>
              <a:ext cx="78181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KNN is sensitive to the value of K and scales poorly with large datasets — still useful for small-data problems.</a:t>
              </a:r>
              <a:endParaRPr lang="en-US" sz="130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74320" y="2505456"/>
            <a:ext cx="8595360" cy="621792"/>
            <a:chOff x="274320" y="2505456"/>
            <a:chExt cx="8595360" cy="621792"/>
          </a:xfrm>
        </p:grpSpPr>
        <p:sp>
          <p:nvSpPr>
            <p:cNvPr id="13" name="Shape 9"/>
            <p:cNvSpPr/>
            <p:nvPr/>
          </p:nvSpPr>
          <p:spPr>
            <a:xfrm>
              <a:off x="274320" y="2505456"/>
              <a:ext cx="8595360" cy="621792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4" name="Shape 10"/>
            <p:cNvSpPr/>
            <p:nvPr/>
          </p:nvSpPr>
          <p:spPr>
            <a:xfrm>
              <a:off x="274320" y="2505456"/>
              <a:ext cx="91440" cy="621792"/>
            </a:xfrm>
            <a:prstGeom prst="rect">
              <a:avLst/>
            </a:prstGeom>
            <a:solidFill>
              <a:srgbClr val="00D4FF"/>
            </a:solidFill>
            <a:ln/>
          </p:spPr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560320"/>
              <a:ext cx="320040" cy="320040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914400" y="2505456"/>
              <a:ext cx="78181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Logistic Regression excels in speed and interpretability — ideal when model explainability matters to stakeholders.</a:t>
              </a:r>
              <a:endParaRPr lang="en-US" sz="130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74320" y="3255264"/>
            <a:ext cx="8595360" cy="621792"/>
            <a:chOff x="274320" y="3255264"/>
            <a:chExt cx="8595360" cy="621792"/>
          </a:xfrm>
        </p:grpSpPr>
        <p:sp>
          <p:nvSpPr>
            <p:cNvPr id="17" name="Shape 12"/>
            <p:cNvSpPr/>
            <p:nvPr/>
          </p:nvSpPr>
          <p:spPr>
            <a:xfrm>
              <a:off x="274320" y="3255264"/>
              <a:ext cx="8595360" cy="621792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8" name="Shape 13"/>
            <p:cNvSpPr/>
            <p:nvPr/>
          </p:nvSpPr>
          <p:spPr>
            <a:xfrm>
              <a:off x="274320" y="3255264"/>
              <a:ext cx="91440" cy="621792"/>
            </a:xfrm>
            <a:prstGeom prst="rect">
              <a:avLst/>
            </a:prstGeom>
            <a:solidFill>
              <a:srgbClr val="F59E0B"/>
            </a:solidFill>
            <a:ln/>
          </p:spPr>
        </p:sp>
        <p:pic>
          <p:nvPicPr>
            <p:cNvPr id="19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3310128"/>
              <a:ext cx="320040" cy="320040"/>
            </a:xfrm>
            <a:prstGeom prst="rect">
              <a:avLst/>
            </a:prstGeom>
          </p:spPr>
        </p:pic>
        <p:sp>
          <p:nvSpPr>
            <p:cNvPr id="20" name="Text 14"/>
            <p:cNvSpPr/>
            <p:nvPr/>
          </p:nvSpPr>
          <p:spPr>
            <a:xfrm>
              <a:off x="914400" y="3255264"/>
              <a:ext cx="78181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Real-time comparison on live data reveals that no single model wins every dataset — context always matters.</a:t>
              </a:r>
              <a:endParaRPr lang="en-US" sz="13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74320" y="4005072"/>
            <a:ext cx="8595360" cy="621792"/>
            <a:chOff x="274320" y="4005072"/>
            <a:chExt cx="8595360" cy="621792"/>
          </a:xfrm>
        </p:grpSpPr>
        <p:sp>
          <p:nvSpPr>
            <p:cNvPr id="21" name="Shape 15"/>
            <p:cNvSpPr/>
            <p:nvPr/>
          </p:nvSpPr>
          <p:spPr>
            <a:xfrm>
              <a:off x="274320" y="4005072"/>
              <a:ext cx="8595360" cy="621792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Shape 16"/>
            <p:cNvSpPr/>
            <p:nvPr/>
          </p:nvSpPr>
          <p:spPr>
            <a:xfrm>
              <a:off x="274320" y="4005072"/>
              <a:ext cx="91440" cy="621792"/>
            </a:xfrm>
            <a:prstGeom prst="rect">
              <a:avLst/>
            </a:prstGeom>
            <a:solidFill>
              <a:srgbClr val="F472B6"/>
            </a:solidFill>
            <a:ln/>
          </p:spPr>
        </p:sp>
        <p:pic>
          <p:nvPicPr>
            <p:cNvPr id="23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4059936"/>
              <a:ext cx="320040" cy="320040"/>
            </a:xfrm>
            <a:prstGeom prst="rect">
              <a:avLst/>
            </a:prstGeom>
          </p:spPr>
        </p:pic>
        <p:sp>
          <p:nvSpPr>
            <p:cNvPr id="24" name="Text 17"/>
            <p:cNvSpPr/>
            <p:nvPr/>
          </p:nvSpPr>
          <p:spPr>
            <a:xfrm>
              <a:off x="914400" y="4005072"/>
              <a:ext cx="78181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Building a full-stack ML app bridges the gap between Data Science and Software Engineering skills in practice.</a:t>
              </a:r>
              <a:endParaRPr lang="en-US" sz="1300" dirty="0"/>
            </a:p>
          </p:txBody>
        </p:sp>
      </p:grpSp>
      <p:sp>
        <p:nvSpPr>
          <p:cNvPr id="25" name="Text 18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8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085977" y="1435608"/>
            <a:ext cx="4754880" cy="873252"/>
            <a:chOff x="4114800" y="1600200"/>
            <a:chExt cx="4754880" cy="873252"/>
          </a:xfrm>
        </p:grpSpPr>
        <p:sp>
          <p:nvSpPr>
            <p:cNvPr id="21" name="Shape 17"/>
            <p:cNvSpPr/>
            <p:nvPr/>
          </p:nvSpPr>
          <p:spPr>
            <a:xfrm>
              <a:off x="4114800" y="1600200"/>
              <a:ext cx="4754880" cy="8686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3" name="Shape 19"/>
            <p:cNvSpPr/>
            <p:nvPr/>
          </p:nvSpPr>
          <p:spPr>
            <a:xfrm>
              <a:off x="4297680" y="1673352"/>
              <a:ext cx="502920" cy="502920"/>
            </a:xfrm>
            <a:prstGeom prst="ellipse">
              <a:avLst/>
            </a:prstGeom>
            <a:solidFill>
              <a:srgbClr val="7C3AED">
                <a:alpha val="70000"/>
              </a:srgbClr>
            </a:solidFill>
            <a:ln/>
          </p:spPr>
        </p:sp>
        <p:sp>
          <p:nvSpPr>
            <p:cNvPr id="25" name="Text 21"/>
            <p:cNvSpPr/>
            <p:nvPr/>
          </p:nvSpPr>
          <p:spPr>
            <a:xfrm>
              <a:off x="4919472" y="1618488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Full-Stack Integration</a:t>
              </a:r>
              <a:endParaRPr lang="en-US" sz="130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4919472" y="1929384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React frontend seamlessly communicates with Flask ML backend via REST API.</a:t>
              </a:r>
              <a:endParaRPr lang="en-US" sz="1150" dirty="0"/>
            </a:p>
          </p:txBody>
        </p:sp>
        <p:sp>
          <p:nvSpPr>
            <p:cNvPr id="43" name="Shape 18"/>
            <p:cNvSpPr/>
            <p:nvPr/>
          </p:nvSpPr>
          <p:spPr>
            <a:xfrm>
              <a:off x="4119372" y="1604772"/>
              <a:ext cx="91440" cy="868680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44" name="Text 20"/>
            <p:cNvSpPr/>
            <p:nvPr/>
          </p:nvSpPr>
          <p:spPr>
            <a:xfrm>
              <a:off x="4302252" y="1677924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02</a:t>
              </a:r>
              <a:endParaRPr lang="en-US" sz="1300" dirty="0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01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1220724" y="553212"/>
            <a:ext cx="2011680" cy="201168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47626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" y="25648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7432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AI ML Mini Project</a:t>
            </a:r>
            <a:endParaRPr lang="en-US" sz="1500" dirty="0"/>
          </a:p>
        </p:txBody>
      </p:sp>
      <p:grpSp>
        <p:nvGrpSpPr>
          <p:cNvPr id="42" name="Group 41"/>
          <p:cNvGrpSpPr/>
          <p:nvPr/>
        </p:nvGrpSpPr>
        <p:grpSpPr>
          <a:xfrm>
            <a:off x="4069080" y="299466"/>
            <a:ext cx="4754880" cy="868680"/>
            <a:chOff x="4114800" y="548640"/>
            <a:chExt cx="4754880" cy="868680"/>
          </a:xfrm>
        </p:grpSpPr>
        <p:sp>
          <p:nvSpPr>
            <p:cNvPr id="15" name="Shape 11"/>
            <p:cNvSpPr/>
            <p:nvPr/>
          </p:nvSpPr>
          <p:spPr>
            <a:xfrm>
              <a:off x="4114800" y="548640"/>
              <a:ext cx="4754880" cy="8686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6" name="Shape 12"/>
            <p:cNvSpPr/>
            <p:nvPr/>
          </p:nvSpPr>
          <p:spPr>
            <a:xfrm>
              <a:off x="4114800" y="548640"/>
              <a:ext cx="91440" cy="868680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7" name="Shape 13"/>
            <p:cNvSpPr/>
            <p:nvPr/>
          </p:nvSpPr>
          <p:spPr>
            <a:xfrm>
              <a:off x="4297680" y="621792"/>
              <a:ext cx="502920" cy="502920"/>
            </a:xfrm>
            <a:prstGeom prst="ellipse">
              <a:avLst/>
            </a:prstGeom>
            <a:solidFill>
              <a:srgbClr val="00D4FF">
                <a:alpha val="70000"/>
              </a:srgbClr>
            </a:solidFill>
            <a:ln/>
          </p:spPr>
        </p:sp>
        <p:sp>
          <p:nvSpPr>
            <p:cNvPr id="18" name="Text 14"/>
            <p:cNvSpPr/>
            <p:nvPr/>
          </p:nvSpPr>
          <p:spPr>
            <a:xfrm>
              <a:off x="4297680" y="621792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01</a:t>
              </a:r>
              <a:endParaRPr lang="en-US" sz="130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4919472" y="566928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D4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Interactive Comparison</a:t>
              </a:r>
              <a:endParaRPr lang="en-US" sz="1300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4919472" y="877824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Users can </a:t>
              </a:r>
              <a:r>
                <a:rPr lang="en-US" sz="1150" dirty="0" smtClean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compare ML models side-by-side in real time.</a:t>
              </a:r>
              <a:endParaRPr lang="en-US" sz="1150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088065" y="2530602"/>
            <a:ext cx="4754880" cy="868680"/>
            <a:chOff x="4114800" y="2651760"/>
            <a:chExt cx="4754880" cy="868680"/>
          </a:xfrm>
        </p:grpSpPr>
        <p:sp>
          <p:nvSpPr>
            <p:cNvPr id="27" name="Shape 23"/>
            <p:cNvSpPr/>
            <p:nvPr/>
          </p:nvSpPr>
          <p:spPr>
            <a:xfrm>
              <a:off x="4114800" y="2651760"/>
              <a:ext cx="4754880" cy="8686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8" name="Shape 24"/>
            <p:cNvSpPr/>
            <p:nvPr/>
          </p:nvSpPr>
          <p:spPr>
            <a:xfrm>
              <a:off x="4114800" y="2651760"/>
              <a:ext cx="91440" cy="86868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29" name="Shape 25"/>
            <p:cNvSpPr/>
            <p:nvPr/>
          </p:nvSpPr>
          <p:spPr>
            <a:xfrm>
              <a:off x="4297680" y="2724912"/>
              <a:ext cx="502920" cy="502920"/>
            </a:xfrm>
            <a:prstGeom prst="ellipse">
              <a:avLst/>
            </a:prstGeom>
            <a:solidFill>
              <a:srgbClr val="10B981">
                <a:alpha val="70000"/>
              </a:srgbClr>
            </a:solidFill>
            <a:ln/>
          </p:spPr>
        </p:sp>
        <p:sp>
          <p:nvSpPr>
            <p:cNvPr id="30" name="Text 26"/>
            <p:cNvSpPr/>
            <p:nvPr/>
          </p:nvSpPr>
          <p:spPr>
            <a:xfrm>
              <a:off x="4297680" y="2724912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03</a:t>
              </a:r>
              <a:endParaRPr lang="en-US" sz="1300" dirty="0"/>
            </a:p>
          </p:txBody>
        </p:sp>
        <p:sp>
          <p:nvSpPr>
            <p:cNvPr id="31" name="Text 27"/>
            <p:cNvSpPr/>
            <p:nvPr/>
          </p:nvSpPr>
          <p:spPr>
            <a:xfrm>
              <a:off x="4919472" y="2670048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Comprehensive Metrics</a:t>
              </a:r>
              <a:endParaRPr lang="en-US" sz="1300" dirty="0"/>
            </a:p>
          </p:txBody>
        </p:sp>
        <p:sp>
          <p:nvSpPr>
            <p:cNvPr id="32" name="Text 28"/>
            <p:cNvSpPr/>
            <p:nvPr/>
          </p:nvSpPr>
          <p:spPr>
            <a:xfrm>
              <a:off x="4919472" y="2980944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Accuracy, MSE, RMSE, MAE, Residuals, Overfitting graphs — all in one place.</a:t>
              </a:r>
              <a:endParaRPr lang="en-US" sz="1150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090549" y="3618738"/>
            <a:ext cx="4754880" cy="868680"/>
            <a:chOff x="4114800" y="3703320"/>
            <a:chExt cx="4754880" cy="868680"/>
          </a:xfrm>
        </p:grpSpPr>
        <p:sp>
          <p:nvSpPr>
            <p:cNvPr id="33" name="Shape 29"/>
            <p:cNvSpPr/>
            <p:nvPr/>
          </p:nvSpPr>
          <p:spPr>
            <a:xfrm>
              <a:off x="4114800" y="3703320"/>
              <a:ext cx="4754880" cy="868680"/>
            </a:xfrm>
            <a:prstGeom prst="rect">
              <a:avLst/>
            </a:prstGeom>
            <a:solidFill>
              <a:srgbClr val="1A2150"/>
            </a:solidFill>
            <a:ln/>
            <a:effectLst>
              <a:outerShdw blurRad="1270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4" name="Shape 30"/>
            <p:cNvSpPr/>
            <p:nvPr/>
          </p:nvSpPr>
          <p:spPr>
            <a:xfrm>
              <a:off x="4114800" y="3703320"/>
              <a:ext cx="91440" cy="86868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35" name="Shape 31"/>
            <p:cNvSpPr/>
            <p:nvPr/>
          </p:nvSpPr>
          <p:spPr>
            <a:xfrm>
              <a:off x="4297680" y="3776472"/>
              <a:ext cx="502920" cy="502920"/>
            </a:xfrm>
            <a:prstGeom prst="ellipse">
              <a:avLst/>
            </a:prstGeom>
            <a:solidFill>
              <a:srgbClr val="F59E0B">
                <a:alpha val="70000"/>
              </a:srgbClr>
            </a:solidFill>
            <a:ln/>
          </p:spPr>
        </p:sp>
        <p:sp>
          <p:nvSpPr>
            <p:cNvPr id="36" name="Text 32"/>
            <p:cNvSpPr/>
            <p:nvPr/>
          </p:nvSpPr>
          <p:spPr>
            <a:xfrm>
              <a:off x="4297680" y="3776472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04</a:t>
              </a:r>
              <a:endParaRPr lang="en-US" sz="1300" dirty="0"/>
            </a:p>
          </p:txBody>
        </p:sp>
        <p:sp>
          <p:nvSpPr>
            <p:cNvPr id="37" name="Text 33"/>
            <p:cNvSpPr/>
            <p:nvPr/>
          </p:nvSpPr>
          <p:spPr>
            <a:xfrm>
              <a:off x="4919472" y="3721608"/>
              <a:ext cx="3840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Takeaway</a:t>
              </a:r>
              <a:endParaRPr lang="en-US" sz="1300" dirty="0"/>
            </a:p>
          </p:txBody>
        </p:sp>
        <p:sp>
          <p:nvSpPr>
            <p:cNvPr id="38" name="Text 34"/>
            <p:cNvSpPr/>
            <p:nvPr/>
          </p:nvSpPr>
          <p:spPr>
            <a:xfrm>
              <a:off x="4919472" y="4032504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B8C4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 leads in accuracy; LR wins in speed. Right model depends on the problem!</a:t>
              </a:r>
              <a:endParaRPr lang="en-US" sz="1150" dirty="0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30088" y="4645152"/>
            <a:ext cx="8310769" cy="388620"/>
            <a:chOff x="530088" y="4645152"/>
            <a:chExt cx="8310769" cy="388620"/>
          </a:xfrm>
        </p:grpSpPr>
        <p:sp>
          <p:nvSpPr>
            <p:cNvPr id="39" name="Shape 35"/>
            <p:cNvSpPr/>
            <p:nvPr/>
          </p:nvSpPr>
          <p:spPr>
            <a:xfrm>
              <a:off x="828261" y="4645152"/>
              <a:ext cx="8012596" cy="384048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40" name="Text 36"/>
            <p:cNvSpPr/>
            <p:nvPr/>
          </p:nvSpPr>
          <p:spPr>
            <a:xfrm>
              <a:off x="530088" y="4649724"/>
              <a:ext cx="792943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A0F2E"/>
                  </a:solidFill>
                </a:rPr>
                <a:t>Thank You! Questions Welcome </a:t>
              </a:r>
              <a:endParaRPr lang="en-US" sz="1400" dirty="0"/>
            </a:p>
          </p:txBody>
        </p:sp>
      </p:grpSp>
      <p:sp>
        <p:nvSpPr>
          <p:cNvPr id="41" name="Text 37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8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663</Words>
  <Application>Microsoft Office PowerPoint</Application>
  <PresentationFormat>On-screen Show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 AI ML Mini Project</dc:title>
  <dc:subject>PptxGenJS Presentation</dc:subject>
  <dc:creator>PptxGenJS</dc:creator>
  <cp:lastModifiedBy>Admin</cp:lastModifiedBy>
  <cp:revision>6</cp:revision>
  <dcterms:created xsi:type="dcterms:W3CDTF">2026-04-06T12:15:11Z</dcterms:created>
  <dcterms:modified xsi:type="dcterms:W3CDTF">2026-04-06T13:08:14Z</dcterms:modified>
</cp:coreProperties>
</file>